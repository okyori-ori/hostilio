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6" roundtripDataSignature="AMtx7mjS5OfbE+dn8iu2houPohQyy1dYT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E846CCC-26C9-44BC-927E-25D5D4DBB280}">
  <a:tblStyle styleId="{6E846CCC-26C9-44BC-927E-25D5D4DBB280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6E6E6"/>
          </a:solidFill>
        </a:fill>
      </a:tcStyle>
    </a:wholeTbl>
    <a:band1H>
      <a:tcTxStyle/>
      <a:tcStyle>
        <a:tcBdr/>
        <a:fill>
          <a:solidFill>
            <a:srgbClr val="CACACA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ACACA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dk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dk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0" d="100"/>
          <a:sy n="60" d="100"/>
        </p:scale>
        <p:origin x="78" y="11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customschemas.google.com/relationships/presentationmetadata" Target="meta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2" name="Google Shape;92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" name="Google Shape;102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Целью курсового проектирования является создание …..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ru-RU" sz="1200" b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Задачи </a:t>
            </a:r>
            <a:r>
              <a:rPr lang="ru-RU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курсового</a:t>
            </a:r>
            <a:r>
              <a:rPr lang="ru-RU" sz="1200" b="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проектирования </a:t>
            </a:r>
            <a:r>
              <a:rPr lang="ru-RU" sz="1200" b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представлены </a:t>
            </a:r>
            <a:r>
              <a:rPr lang="ru-RU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на слайде …….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ИЛИ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</a:pPr>
            <a:r>
              <a:rPr lang="ru-RU" sz="1200" b="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Функциональные задачи программного продукта: …….</a:t>
            </a:r>
            <a:endParaRPr sz="1200" b="0">
              <a:solidFill>
                <a:schemeClr val="accent1"/>
              </a:solidFill>
              <a:highlight>
                <a:srgbClr val="FFFF00"/>
              </a:highlight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highlight>
                <a:srgbClr val="FFFF00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>
                <a:solidFill>
                  <a:schemeClr val="dk1"/>
                </a:solidFill>
                <a:highlight>
                  <a:srgbClr val="FFFF00"/>
                </a:highlight>
                <a:latin typeface="Calibri"/>
                <a:ea typeface="Calibri"/>
                <a:cs typeface="Calibri"/>
                <a:sym typeface="Calibri"/>
              </a:rPr>
              <a:t>Данная тема актуальна на сегодняшний момент времени, так как …… </a:t>
            </a:r>
            <a:endParaRPr/>
          </a:p>
        </p:txBody>
      </p:sp>
      <p:sp>
        <p:nvSpPr>
          <p:cNvPr id="103" name="Google Shape;103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5" name="Google Shape;115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6" name="Google Shape;126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5" name="Google Shape;135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8" name="Google Shape;148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1" name="Google Shape;161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6" name="Google Shape;176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6" name="Google Shape;186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3" name="Google Shape;193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" name="Google Shape;194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10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устой слайд" type="blank">
  <p:cSld name="BLANK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объект" type="obj">
  <p:cSld name="OBJEC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" name="Google Shape;22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Заголовок и объект">
  <p:cSld name="1_Заголовок и объект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29" name="Google Shape;29;p1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4"/>
          <p:cNvSpPr txBox="1">
            <a:spLocks noGrp="1"/>
          </p:cNvSpPr>
          <p:nvPr>
            <p:ph type="body" idx="1"/>
          </p:nvPr>
        </p:nvSpPr>
        <p:spPr>
          <a:xfrm>
            <a:off x="1524000" y="731520"/>
            <a:ext cx="8534400" cy="3474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 слайд" type="title">
  <p:cSld name="TITLE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5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5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4" name="Google Shape;34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раздела" type="secHead">
  <p:cSld name="SECTION_HEADER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6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6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0" name="Google Shape;40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Два объекта" type="twoObj">
  <p:cSld name="TWO_OBJECTS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17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7" name="Google Shape;47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равнение" type="twoTxTwoObj">
  <p:cSld name="TWO_OBJECTS_WITH_TEXT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8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8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3" name="Google Shape;53;p18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4" name="Google Shape;54;p18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5" name="Google Shape;55;p18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6" name="Google Shape;56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олько заголовок" type="titleOnly">
  <p:cSld name="TITLE_ONLY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бъект с подписью" type="objTx">
  <p:cSld name="OBJECT_WITH_CAPTION_TEX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2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0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7" name="Google Shape;67;p20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8" name="Google Shape;68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исунок с подписью" type="picTx">
  <p:cSld name="PICTURE_WITH_CAPTION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2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1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4" name="Google Shape;74;p21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5" name="Google Shape;75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вертикальный текст" type="vertTx">
  <p:cSld name="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2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ертикальный заголовок и текст" type="vertTitleAndTx">
  <p:cSld name="VERTICAL_TITLE_AND_VERTICAL_TEXT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3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23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7" name="Google Shape;87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"/>
          <p:cNvSpPr txBox="1"/>
          <p:nvPr/>
        </p:nvSpPr>
        <p:spPr>
          <a:xfrm>
            <a:off x="3014311" y="2102974"/>
            <a:ext cx="6279306" cy="22331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18288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/>
              <a:buNone/>
            </a:pPr>
            <a:r>
              <a:rPr lang="ru-RU" sz="4400" b="0" i="0" u="none" strike="noStrike" cap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Проектная работа</a:t>
            </a:r>
            <a:endParaRPr lang="ru-RU" dirty="0">
              <a:solidFill>
                <a:schemeClr val="tx1"/>
              </a:solidFill>
            </a:endParaRPr>
          </a:p>
          <a:p>
            <a:pPr marL="18288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lang="ru-RU" sz="4400" b="0" i="0" u="none" strike="noStrike" cap="none" dirty="0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  <a:p>
            <a:pPr algn="ctr">
              <a:lnSpc>
                <a:spcPct val="150000"/>
              </a:lnSpc>
            </a:pPr>
            <a:r>
              <a:rPr lang="ru-RU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НАСТОЛЬНОЕ ПРИЛОЖЕНИЕ «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Hostilio</a:t>
            </a:r>
            <a:r>
              <a:rPr lang="ru-RU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»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96" name="Google Shape;96;p1"/>
          <p:cNvSpPr txBox="1"/>
          <p:nvPr/>
        </p:nvSpPr>
        <p:spPr>
          <a:xfrm>
            <a:off x="2184321" y="328071"/>
            <a:ext cx="7823357" cy="1200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АВТОНОМНАЯ НЕКОММЕРЧЕСКАЯ ОРГАНИЗАЦИЯ ПРОФЕССИОНАЛЬНАЯ ОБРАЗОВАТЕЛЬНАЯ ОРГАНИЗАЦИЯ МОСКОВСКИЙ МЕЖДУНАРОДНЫЙ КОЛЛЕДЖ ЦИФРОВЫХ ТЕХНОЛОГИЙ «АКАДЕМИЯ ТОП»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"/>
          <p:cNvSpPr txBox="1"/>
          <p:nvPr/>
        </p:nvSpPr>
        <p:spPr>
          <a:xfrm>
            <a:off x="7123679" y="4910703"/>
            <a:ext cx="5214959" cy="9232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Выполнил: </a:t>
            </a:r>
            <a:r>
              <a:rPr lang="ru-RU" sz="1800" b="0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cs typeface="Arial"/>
                <a:sym typeface="Arial"/>
              </a:rPr>
              <a:t>М</a:t>
            </a:r>
            <a:r>
              <a:rPr lang="en-US" sz="1800" dirty="0">
                <a:solidFill>
                  <a:schemeClr val="dk1"/>
                </a:solidFill>
                <a:latin typeface="Times New Roman" panose="02020603050405020304" pitchFamily="18" charset="0"/>
              </a:rPr>
              <a:t>.</a:t>
            </a:r>
            <a:r>
              <a:rPr lang="ru-RU" sz="1800" dirty="0">
                <a:solidFill>
                  <a:schemeClr val="dk1"/>
                </a:solidFill>
                <a:latin typeface="Times New Roman" panose="02020603050405020304" pitchFamily="18" charset="0"/>
              </a:rPr>
              <a:t>Ю</a:t>
            </a:r>
            <a:r>
              <a:rPr lang="en-US" sz="1800" dirty="0">
                <a:solidFill>
                  <a:schemeClr val="dk1"/>
                </a:solidFill>
                <a:latin typeface="Times New Roman" panose="02020603050405020304" pitchFamily="18" charset="0"/>
              </a:rPr>
              <a:t>. </a:t>
            </a:r>
            <a:r>
              <a:rPr lang="ru-RU" sz="1800" dirty="0" err="1">
                <a:solidFill>
                  <a:schemeClr val="dk1"/>
                </a:solidFill>
                <a:latin typeface="Times New Roman" panose="02020603050405020304" pitchFamily="18" charset="0"/>
              </a:rPr>
              <a:t>Щучкин</a:t>
            </a:r>
            <a:r>
              <a:rPr lang="ru-RU" sz="1800" dirty="0">
                <a:solidFill>
                  <a:schemeClr val="dk1"/>
                </a:solidFill>
                <a:latin typeface="Times New Roman" panose="02020603050405020304" pitchFamily="18" charset="0"/>
              </a:rPr>
              <a:t> </a:t>
            </a:r>
            <a:b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ru-RU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Группа:</a:t>
            </a:r>
            <a:r>
              <a:rPr lang="ru-RU" sz="1800" dirty="0">
                <a:solidFill>
                  <a:schemeClr val="dk1"/>
                </a:solidFill>
              </a:rPr>
              <a:t>9</a:t>
            </a:r>
            <a:r>
              <a:rPr lang="en-US" sz="1800" dirty="0">
                <a:solidFill>
                  <a:schemeClr val="dk1"/>
                </a:solidFill>
              </a:rPr>
              <a:t>/2-</a:t>
            </a:r>
            <a:r>
              <a:rPr lang="ru-RU" sz="1800" dirty="0">
                <a:solidFill>
                  <a:schemeClr val="dk1"/>
                </a:solidFill>
              </a:rPr>
              <a:t>РПО-24</a:t>
            </a:r>
            <a:r>
              <a:rPr lang="en-US" sz="1800" dirty="0">
                <a:solidFill>
                  <a:schemeClr val="dk1"/>
                </a:solidFill>
              </a:rPr>
              <a:t>/1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Руководитель: </a:t>
            </a: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А.А. Концевич</a:t>
            </a:r>
            <a:endParaRPr dirty="0"/>
          </a:p>
        </p:txBody>
      </p:sp>
      <p:sp>
        <p:nvSpPr>
          <p:cNvPr id="98" name="Google Shape;98;p1"/>
          <p:cNvSpPr txBox="1"/>
          <p:nvPr/>
        </p:nvSpPr>
        <p:spPr>
          <a:xfrm>
            <a:off x="9731159" y="5599014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"/>
          <p:cNvSpPr txBox="1"/>
          <p:nvPr/>
        </p:nvSpPr>
        <p:spPr>
          <a:xfrm>
            <a:off x="5356310" y="6345263"/>
            <a:ext cx="159530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Иркутск 2026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"/>
          <p:cNvSpPr txBox="1"/>
          <p:nvPr/>
        </p:nvSpPr>
        <p:spPr>
          <a:xfrm>
            <a:off x="11388491" y="6277293"/>
            <a:ext cx="545284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b="1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2" name="Shape 2">
            <a:extLst>
              <a:ext uri="{FF2B5EF4-FFF2-40B4-BE49-F238E27FC236}">
                <a16:creationId xmlns:a16="http://schemas.microsoft.com/office/drawing/2014/main" id="{C10AC882-F7BF-E827-B2D2-F88550449FCC}"/>
              </a:ext>
            </a:extLst>
          </p:cNvPr>
          <p:cNvSpPr/>
          <p:nvPr/>
        </p:nvSpPr>
        <p:spPr>
          <a:xfrm>
            <a:off x="216404" y="960119"/>
            <a:ext cx="10625645" cy="885553"/>
          </a:xfrm>
          <a:prstGeom prst="roundRect">
            <a:avLst>
              <a:gd name="adj" fmla="val 9412"/>
            </a:avLst>
          </a:prstGeom>
          <a:solidFill>
            <a:srgbClr val="EBF3FB"/>
          </a:solidFill>
          <a:ln w="19050">
            <a:solidFill>
              <a:srgbClr val="4DB6E8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r>
              <a:rPr lang="en-US" sz="1800" b="1" dirty="0" err="1">
                <a:solidFill>
                  <a:srgbClr val="1A4F8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Цель</a:t>
            </a:r>
            <a:r>
              <a:rPr lang="en-US" sz="1800" b="1" dirty="0">
                <a:solidFill>
                  <a:srgbClr val="1A4F8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: </a:t>
            </a:r>
            <a:r>
              <a:rPr lang="en-US" sz="1800" dirty="0" err="1">
                <a:solidFill>
                  <a:srgbClr val="0D213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автоматизировать</a:t>
            </a:r>
            <a:r>
              <a:rPr lang="ru-RU" sz="1800" dirty="0">
                <a:solidFill>
                  <a:srgbClr val="0D213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работу персонала администратора 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dirty="0"/>
          </a:p>
        </p:txBody>
      </p:sp>
      <p:sp>
        <p:nvSpPr>
          <p:cNvPr id="3" name="Shape 0">
            <a:extLst>
              <a:ext uri="{FF2B5EF4-FFF2-40B4-BE49-F238E27FC236}">
                <a16:creationId xmlns:a16="http://schemas.microsoft.com/office/drawing/2014/main" id="{EA1126BE-D252-7852-B2B1-ADB7C06C49AB}"/>
              </a:ext>
            </a:extLst>
          </p:cNvPr>
          <p:cNvSpPr/>
          <p:nvPr/>
        </p:nvSpPr>
        <p:spPr>
          <a:xfrm>
            <a:off x="0" y="-81847"/>
            <a:ext cx="12192000" cy="100584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49DF8C1B-9471-D8BD-0552-B5603B2689F2}"/>
              </a:ext>
            </a:extLst>
          </p:cNvPr>
          <p:cNvSpPr/>
          <p:nvPr/>
        </p:nvSpPr>
        <p:spPr>
          <a:xfrm>
            <a:off x="365760" y="-45720"/>
            <a:ext cx="8595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Цель и функциональные задачи</a:t>
            </a:r>
            <a:endParaRPr lang="en-US" sz="2600" dirty="0"/>
          </a:p>
        </p:txBody>
      </p:sp>
      <p:sp>
        <p:nvSpPr>
          <p:cNvPr id="10" name="Shape 6">
            <a:extLst>
              <a:ext uri="{FF2B5EF4-FFF2-40B4-BE49-F238E27FC236}">
                <a16:creationId xmlns:a16="http://schemas.microsoft.com/office/drawing/2014/main" id="{8C5D0420-8EBF-9290-AFF6-48A36EA382AA}"/>
              </a:ext>
            </a:extLst>
          </p:cNvPr>
          <p:cNvSpPr/>
          <p:nvPr/>
        </p:nvSpPr>
        <p:spPr>
          <a:xfrm>
            <a:off x="5776995" y="1941899"/>
            <a:ext cx="5065055" cy="1182463"/>
          </a:xfrm>
          <a:prstGeom prst="roundRect">
            <a:avLst>
              <a:gd name="adj" fmla="val 8537"/>
            </a:avLst>
          </a:prstGeom>
          <a:solidFill>
            <a:srgbClr val="F0F4F8"/>
          </a:solidFill>
          <a:ln w="12700">
            <a:solidFill>
              <a:srgbClr val="2A7CC7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ru-RU" dirty="0"/>
          </a:p>
        </p:txBody>
      </p:sp>
      <p:pic>
        <p:nvPicPr>
          <p:cNvPr id="11" name="Image 2" descr="preencoded.png">
            <a:extLst>
              <a:ext uri="{FF2B5EF4-FFF2-40B4-BE49-F238E27FC236}">
                <a16:creationId xmlns:a16="http://schemas.microsoft.com/office/drawing/2014/main" id="{48C70764-E34A-1DAC-3C91-7CD433B057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6723" y="2106491"/>
            <a:ext cx="648913" cy="648913"/>
          </a:xfrm>
          <a:prstGeom prst="rect">
            <a:avLst/>
          </a:prstGeom>
        </p:spPr>
      </p:pic>
      <p:sp>
        <p:nvSpPr>
          <p:cNvPr id="12" name="Text 7">
            <a:extLst>
              <a:ext uri="{FF2B5EF4-FFF2-40B4-BE49-F238E27FC236}">
                <a16:creationId xmlns:a16="http://schemas.microsoft.com/office/drawing/2014/main" id="{32A7D48D-5A68-7D9C-714F-0F5095B8C527}"/>
              </a:ext>
            </a:extLst>
          </p:cNvPr>
          <p:cNvSpPr/>
          <p:nvPr/>
        </p:nvSpPr>
        <p:spPr>
          <a:xfrm>
            <a:off x="6645364" y="2015051"/>
            <a:ext cx="3937600" cy="95173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 err="1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Просмотр</a:t>
            </a:r>
            <a:r>
              <a:rPr lang="ru-RU" sz="16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фонда номеров их состояния и учет клиентов </a:t>
            </a:r>
            <a:endParaRPr lang="en-US" sz="1600" dirty="0"/>
          </a:p>
        </p:txBody>
      </p:sp>
      <p:sp>
        <p:nvSpPr>
          <p:cNvPr id="16" name="Shape 10">
            <a:extLst>
              <a:ext uri="{FF2B5EF4-FFF2-40B4-BE49-F238E27FC236}">
                <a16:creationId xmlns:a16="http://schemas.microsoft.com/office/drawing/2014/main" id="{66F85E85-2BB6-7C63-CCF9-289EA0B99483}"/>
              </a:ext>
            </a:extLst>
          </p:cNvPr>
          <p:cNvSpPr/>
          <p:nvPr/>
        </p:nvSpPr>
        <p:spPr>
          <a:xfrm>
            <a:off x="5776995" y="3272925"/>
            <a:ext cx="5065055" cy="1182463"/>
          </a:xfrm>
          <a:prstGeom prst="roundRect">
            <a:avLst>
              <a:gd name="adj" fmla="val 8537"/>
            </a:avLst>
          </a:prstGeom>
          <a:solidFill>
            <a:srgbClr val="F0F4F8"/>
          </a:solidFill>
          <a:ln w="12700">
            <a:solidFill>
              <a:srgbClr val="2A7CC7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pic>
        <p:nvPicPr>
          <p:cNvPr id="17" name="Image 4" descr="preencoded.png">
            <a:extLst>
              <a:ext uri="{FF2B5EF4-FFF2-40B4-BE49-F238E27FC236}">
                <a16:creationId xmlns:a16="http://schemas.microsoft.com/office/drawing/2014/main" id="{5352C114-0A05-F3BB-B80D-9C9D416492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86723" y="3442277"/>
            <a:ext cx="648913" cy="648913"/>
          </a:xfrm>
          <a:prstGeom prst="rect">
            <a:avLst/>
          </a:prstGeom>
        </p:spPr>
      </p:pic>
      <p:sp>
        <p:nvSpPr>
          <p:cNvPr id="18" name="Text 11">
            <a:extLst>
              <a:ext uri="{FF2B5EF4-FFF2-40B4-BE49-F238E27FC236}">
                <a16:creationId xmlns:a16="http://schemas.microsoft.com/office/drawing/2014/main" id="{EE274AE1-E1E4-8CD7-59F0-A75CBC310142}"/>
              </a:ext>
            </a:extLst>
          </p:cNvPr>
          <p:cNvSpPr/>
          <p:nvPr/>
        </p:nvSpPr>
        <p:spPr>
          <a:xfrm>
            <a:off x="6645364" y="3350837"/>
            <a:ext cx="3937600" cy="95173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u-RU" sz="16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Фильтрация номеров по их </a:t>
            </a:r>
            <a:r>
              <a:rPr lang="ru-RU" sz="1600" dirty="0" err="1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состаянию</a:t>
            </a:r>
            <a:r>
              <a:rPr lang="ru-RU" sz="16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</p:txBody>
      </p:sp>
      <p:sp>
        <p:nvSpPr>
          <p:cNvPr id="19" name="Shape 12">
            <a:extLst>
              <a:ext uri="{FF2B5EF4-FFF2-40B4-BE49-F238E27FC236}">
                <a16:creationId xmlns:a16="http://schemas.microsoft.com/office/drawing/2014/main" id="{21C12F90-33EE-012F-44C6-81722B2315C1}"/>
              </a:ext>
            </a:extLst>
          </p:cNvPr>
          <p:cNvSpPr/>
          <p:nvPr/>
        </p:nvSpPr>
        <p:spPr>
          <a:xfrm>
            <a:off x="296054" y="3272925"/>
            <a:ext cx="5134761" cy="1182463"/>
          </a:xfrm>
          <a:prstGeom prst="roundRect">
            <a:avLst>
              <a:gd name="adj" fmla="val 8537"/>
            </a:avLst>
          </a:prstGeom>
          <a:solidFill>
            <a:srgbClr val="F0F4F8"/>
          </a:solidFill>
          <a:ln w="12700">
            <a:solidFill>
              <a:srgbClr val="2A7CC7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pic>
        <p:nvPicPr>
          <p:cNvPr id="20" name="Image 5" descr="preencoded.png">
            <a:extLst>
              <a:ext uri="{FF2B5EF4-FFF2-40B4-BE49-F238E27FC236}">
                <a16:creationId xmlns:a16="http://schemas.microsoft.com/office/drawing/2014/main" id="{E8CE8E1C-D5E3-A901-04E9-6D1AFBEFF62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7585" y="3509065"/>
            <a:ext cx="648913" cy="648913"/>
          </a:xfrm>
          <a:prstGeom prst="rect">
            <a:avLst/>
          </a:prstGeom>
        </p:spPr>
      </p:pic>
      <p:sp>
        <p:nvSpPr>
          <p:cNvPr id="21" name="Text 13">
            <a:extLst>
              <a:ext uri="{FF2B5EF4-FFF2-40B4-BE49-F238E27FC236}">
                <a16:creationId xmlns:a16="http://schemas.microsoft.com/office/drawing/2014/main" id="{FEB659A9-C356-EE54-7AB6-6E4A0393CC7E}"/>
              </a:ext>
            </a:extLst>
          </p:cNvPr>
          <p:cNvSpPr/>
          <p:nvPr/>
        </p:nvSpPr>
        <p:spPr>
          <a:xfrm>
            <a:off x="1310650" y="3417625"/>
            <a:ext cx="3803176" cy="95173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u-RU" sz="1600" dirty="0">
                <a:solidFill>
                  <a:srgbClr val="0D2137"/>
                </a:solidFill>
                <a:latin typeface="Calibri" pitchFamily="34" charset="0"/>
                <a:cs typeface="Calibri" pitchFamily="34" charset="-120"/>
              </a:rPr>
              <a:t>Автоматический расчет стоимости проживания </a:t>
            </a:r>
            <a:endParaRPr lang="en-US" sz="1600" dirty="0"/>
          </a:p>
        </p:txBody>
      </p:sp>
      <p:sp>
        <p:nvSpPr>
          <p:cNvPr id="22" name="Shape 14">
            <a:extLst>
              <a:ext uri="{FF2B5EF4-FFF2-40B4-BE49-F238E27FC236}">
                <a16:creationId xmlns:a16="http://schemas.microsoft.com/office/drawing/2014/main" id="{742BCD45-512F-CA94-B807-0D8BDDC328F4}"/>
              </a:ext>
            </a:extLst>
          </p:cNvPr>
          <p:cNvSpPr/>
          <p:nvPr/>
        </p:nvSpPr>
        <p:spPr>
          <a:xfrm>
            <a:off x="365760" y="1941899"/>
            <a:ext cx="5065055" cy="1182463"/>
          </a:xfrm>
          <a:prstGeom prst="roundRect">
            <a:avLst>
              <a:gd name="adj" fmla="val 8537"/>
            </a:avLst>
          </a:prstGeom>
          <a:solidFill>
            <a:srgbClr val="F0F4F8"/>
          </a:solidFill>
          <a:ln w="12700">
            <a:solidFill>
              <a:srgbClr val="2A7CC7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pic>
        <p:nvPicPr>
          <p:cNvPr id="23" name="Image 6" descr="preencoded.png">
            <a:extLst>
              <a:ext uri="{FF2B5EF4-FFF2-40B4-BE49-F238E27FC236}">
                <a16:creationId xmlns:a16="http://schemas.microsoft.com/office/drawing/2014/main" id="{DC4B9A17-9FED-A195-58FC-0F07285DAA8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5488" y="2106491"/>
            <a:ext cx="648913" cy="648913"/>
          </a:xfrm>
          <a:prstGeom prst="rect">
            <a:avLst/>
          </a:prstGeom>
        </p:spPr>
      </p:pic>
      <p:sp>
        <p:nvSpPr>
          <p:cNvPr id="24" name="Text 15">
            <a:extLst>
              <a:ext uri="{FF2B5EF4-FFF2-40B4-BE49-F238E27FC236}">
                <a16:creationId xmlns:a16="http://schemas.microsoft.com/office/drawing/2014/main" id="{8BBED07A-61A2-F2A9-8554-13E9EFBFB723}"/>
              </a:ext>
            </a:extLst>
          </p:cNvPr>
          <p:cNvSpPr/>
          <p:nvPr/>
        </p:nvSpPr>
        <p:spPr>
          <a:xfrm>
            <a:off x="1234129" y="2015051"/>
            <a:ext cx="3937600" cy="95173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u-RU" sz="16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</a:t>
            </a:r>
            <a:r>
              <a:rPr lang="en-US" sz="1600" dirty="0" err="1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обавление</a:t>
            </a:r>
            <a:r>
              <a:rPr lang="en-US" sz="16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редактирование, </a:t>
            </a:r>
            <a:r>
              <a:rPr lang="en-US" sz="1600" dirty="0" err="1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удаление</a:t>
            </a:r>
            <a:r>
              <a:rPr lang="en-US" sz="16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16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номеров и клиентов 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80AC344-34E9-2EBF-2B98-9ABB38B5BEE2}"/>
              </a:ext>
            </a:extLst>
          </p:cNvPr>
          <p:cNvSpPr/>
          <p:nvPr/>
        </p:nvSpPr>
        <p:spPr>
          <a:xfrm>
            <a:off x="-136028" y="-160221"/>
            <a:ext cx="13536899" cy="1384133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09DAEB8-DA78-B3A6-9E7E-C2F165BC9003}"/>
              </a:ext>
            </a:extLst>
          </p:cNvPr>
          <p:cNvSpPr/>
          <p:nvPr/>
        </p:nvSpPr>
        <p:spPr>
          <a:xfrm>
            <a:off x="274319" y="91440"/>
            <a:ext cx="12724685" cy="1132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Предметная область</a:t>
            </a:r>
            <a:endParaRPr lang="en-US" sz="26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1F6478BA-A26C-8E02-3E5E-2C8550BD47A5}"/>
              </a:ext>
            </a:extLst>
          </p:cNvPr>
          <p:cNvSpPr/>
          <p:nvPr/>
        </p:nvSpPr>
        <p:spPr>
          <a:xfrm>
            <a:off x="329034" y="1701373"/>
            <a:ext cx="6610150" cy="4267199"/>
          </a:xfrm>
          <a:prstGeom prst="roundRect">
            <a:avLst>
              <a:gd name="adj" fmla="val 2500"/>
            </a:avLst>
          </a:prstGeom>
          <a:solidFill>
            <a:srgbClr val="EBF3FB"/>
          </a:solidFill>
          <a:ln w="12700">
            <a:solidFill>
              <a:srgbClr val="4DB6E8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5897EC0D-ABC5-860A-F7E7-EC815DF1139F}"/>
              </a:ext>
            </a:extLst>
          </p:cNvPr>
          <p:cNvSpPr/>
          <p:nvPr/>
        </p:nvSpPr>
        <p:spPr>
          <a:xfrm>
            <a:off x="329034" y="1701373"/>
            <a:ext cx="6120509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Описание системы</a:t>
            </a:r>
            <a:endParaRPr lang="en-US" sz="15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C50F3485-156A-5350-441E-DF7684E5CD42}"/>
              </a:ext>
            </a:extLst>
          </p:cNvPr>
          <p:cNvSpPr/>
          <p:nvPr/>
        </p:nvSpPr>
        <p:spPr>
          <a:xfrm>
            <a:off x="511913" y="2069379"/>
            <a:ext cx="6120509" cy="341375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800" b="1" dirty="0">
                <a:solidFill>
                  <a:srgbClr val="2A7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</a:t>
            </a:r>
            <a:r>
              <a:rPr lang="en-US" sz="1800" dirty="0" err="1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Цифровизация</a:t>
            </a:r>
            <a:r>
              <a:rPr lang="en-US" sz="18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dirty="0" err="1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фонда</a:t>
            </a:r>
            <a:r>
              <a:rPr lang="en-US" sz="18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18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номеров </a:t>
            </a:r>
            <a:r>
              <a:rPr lang="en-US" sz="18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ru-RU" sz="18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добавление</a:t>
            </a:r>
            <a:r>
              <a:rPr lang="en-US" sz="18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</a:t>
            </a:r>
            <a:r>
              <a:rPr lang="ru-RU" sz="18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удаление и изменение состояния </a:t>
            </a:r>
            <a:r>
              <a:rPr lang="en-US" sz="18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1800" b="1" dirty="0">
                <a:solidFill>
                  <a:srgbClr val="2A7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</a:t>
            </a:r>
            <a:r>
              <a:rPr lang="en-US" sz="18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Клиент-серверная архитектура: Flutter (Dart) — клиент, PHP — сервер, MySQL — база данных
</a:t>
            </a:r>
            <a:r>
              <a:rPr lang="en-US" sz="1800" b="1" dirty="0">
                <a:solidFill>
                  <a:srgbClr val="2A7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</a:t>
            </a:r>
            <a:r>
              <a:rPr lang="en-US" sz="18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Разграничение ролей: обычный пользователь и администратор
</a:t>
            </a:r>
            <a:r>
              <a:rPr lang="en-US" sz="1800" b="1" dirty="0">
                <a:solidFill>
                  <a:srgbClr val="2A7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</a:t>
            </a:r>
            <a:r>
              <a:rPr lang="en-US" sz="18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Единое API для настольного и мобильного приложений</a:t>
            </a:r>
            <a:r>
              <a:rPr lang="en-US" sz="13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30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43B967B9-F6DD-F3CC-439B-B3A67EA5E966}"/>
              </a:ext>
            </a:extLst>
          </p:cNvPr>
          <p:cNvSpPr/>
          <p:nvPr/>
        </p:nvSpPr>
        <p:spPr>
          <a:xfrm>
            <a:off x="7331242" y="1588472"/>
            <a:ext cx="4531724" cy="4492999"/>
          </a:xfrm>
          <a:prstGeom prst="roundRect">
            <a:avLst>
              <a:gd name="adj" fmla="val 2740"/>
            </a:avLst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1F83DCBD-BFF4-F5F6-A6B1-3644C2A0F948}"/>
              </a:ext>
            </a:extLst>
          </p:cNvPr>
          <p:cNvSpPr/>
          <p:nvPr/>
        </p:nvSpPr>
        <p:spPr>
          <a:xfrm>
            <a:off x="7882362" y="1594445"/>
            <a:ext cx="4304427" cy="479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DB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Основные сущности</a:t>
            </a:r>
            <a:endParaRPr lang="en-US" sz="1400" dirty="0"/>
          </a:p>
        </p:txBody>
      </p:sp>
      <p:pic>
        <p:nvPicPr>
          <p:cNvPr id="9" name="Image 0" descr="preencoded.png">
            <a:extLst>
              <a:ext uri="{FF2B5EF4-FFF2-40B4-BE49-F238E27FC236}">
                <a16:creationId xmlns:a16="http://schemas.microsoft.com/office/drawing/2014/main" id="{C2576077-D824-BC79-BA76-213366FCDC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2040" y="2161373"/>
            <a:ext cx="489758" cy="489758"/>
          </a:xfrm>
          <a:prstGeom prst="rect">
            <a:avLst/>
          </a:prstGeom>
        </p:spPr>
      </p:pic>
      <p:sp>
        <p:nvSpPr>
          <p:cNvPr id="10" name="Text 7">
            <a:extLst>
              <a:ext uri="{FF2B5EF4-FFF2-40B4-BE49-F238E27FC236}">
                <a16:creationId xmlns:a16="http://schemas.microsoft.com/office/drawing/2014/main" id="{8EEF63EC-B9EA-840B-DA0D-B8D1083BB140}"/>
              </a:ext>
            </a:extLst>
          </p:cNvPr>
          <p:cNvSpPr/>
          <p:nvPr/>
        </p:nvSpPr>
        <p:spPr>
          <a:xfrm>
            <a:off x="8337058" y="2143085"/>
            <a:ext cx="3608122" cy="503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Пользователь (User)</a:t>
            </a:r>
            <a:endParaRPr lang="en-US" sz="1300" dirty="0"/>
          </a:p>
        </p:txBody>
      </p:sp>
      <p:pic>
        <p:nvPicPr>
          <p:cNvPr id="11" name="Image 1" descr="preencoded.png">
            <a:extLst>
              <a:ext uri="{FF2B5EF4-FFF2-40B4-BE49-F238E27FC236}">
                <a16:creationId xmlns:a16="http://schemas.microsoft.com/office/drawing/2014/main" id="{19786183-CC72-8166-25BC-5F9CB4ECBB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2040" y="2755733"/>
            <a:ext cx="489758" cy="489758"/>
          </a:xfrm>
          <a:prstGeom prst="rect">
            <a:avLst/>
          </a:prstGeom>
        </p:spPr>
      </p:pic>
      <p:sp>
        <p:nvSpPr>
          <p:cNvPr id="12" name="Text 8">
            <a:extLst>
              <a:ext uri="{FF2B5EF4-FFF2-40B4-BE49-F238E27FC236}">
                <a16:creationId xmlns:a16="http://schemas.microsoft.com/office/drawing/2014/main" id="{3EFB6B26-CD7D-F4F0-5499-95EDA2775280}"/>
              </a:ext>
            </a:extLst>
          </p:cNvPr>
          <p:cNvSpPr/>
          <p:nvPr/>
        </p:nvSpPr>
        <p:spPr>
          <a:xfrm>
            <a:off x="8284174" y="2737445"/>
            <a:ext cx="3608122" cy="503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u-RU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Номер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(Room)</a:t>
            </a:r>
            <a:endParaRPr lang="en-US" sz="1300" dirty="0"/>
          </a:p>
        </p:txBody>
      </p:sp>
      <p:pic>
        <p:nvPicPr>
          <p:cNvPr id="13" name="Image 2" descr="preencoded.png">
            <a:extLst>
              <a:ext uri="{FF2B5EF4-FFF2-40B4-BE49-F238E27FC236}">
                <a16:creationId xmlns:a16="http://schemas.microsoft.com/office/drawing/2014/main" id="{F968D460-2250-DB57-F6EB-1A710559118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9156" y="3350093"/>
            <a:ext cx="489758" cy="489758"/>
          </a:xfrm>
          <a:prstGeom prst="rect">
            <a:avLst/>
          </a:prstGeom>
        </p:spPr>
      </p:pic>
      <p:sp>
        <p:nvSpPr>
          <p:cNvPr id="14" name="Text 9">
            <a:extLst>
              <a:ext uri="{FF2B5EF4-FFF2-40B4-BE49-F238E27FC236}">
                <a16:creationId xmlns:a16="http://schemas.microsoft.com/office/drawing/2014/main" id="{9140B51F-BBE0-7711-8FF6-2C1CE9C39A4C}"/>
              </a:ext>
            </a:extLst>
          </p:cNvPr>
          <p:cNvSpPr/>
          <p:nvPr/>
        </p:nvSpPr>
        <p:spPr>
          <a:xfrm>
            <a:off x="8284174" y="3331805"/>
            <a:ext cx="3608122" cy="503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u-RU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Бронь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(Booking)</a:t>
            </a:r>
            <a:endParaRPr lang="en-US" sz="1300" dirty="0"/>
          </a:p>
        </p:txBody>
      </p:sp>
      <p:pic>
        <p:nvPicPr>
          <p:cNvPr id="15" name="Image 3" descr="preencoded.png">
            <a:extLst>
              <a:ext uri="{FF2B5EF4-FFF2-40B4-BE49-F238E27FC236}">
                <a16:creationId xmlns:a16="http://schemas.microsoft.com/office/drawing/2014/main" id="{361A3E4A-E4A4-BA90-5D51-AD9B7D70B85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29156" y="3944453"/>
            <a:ext cx="489758" cy="489758"/>
          </a:xfrm>
          <a:prstGeom prst="rect">
            <a:avLst/>
          </a:prstGeom>
        </p:spPr>
      </p:pic>
      <p:sp>
        <p:nvSpPr>
          <p:cNvPr id="16" name="Text 10">
            <a:extLst>
              <a:ext uri="{FF2B5EF4-FFF2-40B4-BE49-F238E27FC236}">
                <a16:creationId xmlns:a16="http://schemas.microsoft.com/office/drawing/2014/main" id="{2E0249D9-D3C6-2B7C-010B-9D0C617290EF}"/>
              </a:ext>
            </a:extLst>
          </p:cNvPr>
          <p:cNvSpPr/>
          <p:nvPr/>
        </p:nvSpPr>
        <p:spPr>
          <a:xfrm>
            <a:off x="8284174" y="3926165"/>
            <a:ext cx="3608122" cy="503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История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проживания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(History)</a:t>
            </a:r>
            <a:endParaRPr lang="en-US" sz="1300" dirty="0"/>
          </a:p>
        </p:txBody>
      </p:sp>
      <p:sp>
        <p:nvSpPr>
          <p:cNvPr id="18" name="Text 11">
            <a:extLst>
              <a:ext uri="{FF2B5EF4-FFF2-40B4-BE49-F238E27FC236}">
                <a16:creationId xmlns:a16="http://schemas.microsoft.com/office/drawing/2014/main" id="{EA663B75-72F4-8744-0064-41356B48FDA2}"/>
              </a:ext>
            </a:extLst>
          </p:cNvPr>
          <p:cNvSpPr/>
          <p:nvPr/>
        </p:nvSpPr>
        <p:spPr>
          <a:xfrm>
            <a:off x="8284173" y="4520525"/>
            <a:ext cx="3154737" cy="4717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4"/>
          <p:cNvSpPr txBox="1"/>
          <p:nvPr/>
        </p:nvSpPr>
        <p:spPr>
          <a:xfrm>
            <a:off x="1068459" y="-162644"/>
            <a:ext cx="9282022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Arial"/>
              <a:buNone/>
            </a:pPr>
            <a:endParaRPr dirty="0"/>
          </a:p>
        </p:txBody>
      </p:sp>
      <p:graphicFrame>
        <p:nvGraphicFramePr>
          <p:cNvPr id="130" name="Google Shape;130;p4"/>
          <p:cNvGraphicFramePr/>
          <p:nvPr>
            <p:extLst>
              <p:ext uri="{D42A27DB-BD31-4B8C-83A1-F6EECF244321}">
                <p14:modId xmlns:p14="http://schemas.microsoft.com/office/powerpoint/2010/main" val="1694274841"/>
              </p:ext>
            </p:extLst>
          </p:nvPr>
        </p:nvGraphicFramePr>
        <p:xfrm>
          <a:off x="505326" y="988185"/>
          <a:ext cx="11176650" cy="5348465"/>
        </p:xfrm>
        <a:graphic>
          <a:graphicData uri="http://schemas.openxmlformats.org/drawingml/2006/table">
            <a:tbl>
              <a:tblPr firstRow="1" bandRow="1">
                <a:noFill/>
                <a:tableStyleId>{6E846CCC-26C9-44BC-927E-25D5D4DBB280}</a:tableStyleId>
              </a:tblPr>
              <a:tblGrid>
                <a:gridCol w="4142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09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23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8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Этап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8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Изображение (логотип)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8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Название инструмента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21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8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Функциональное </a:t>
                      </a:r>
                      <a:r>
                        <a:rPr lang="ru-RU" sz="18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проектирование программного продукта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b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Draw.io</a:t>
                      </a:r>
                      <a:endParaRPr lang="en-US" sz="1400" b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400" b="0" u="none" strike="noStrike" cap="none" dirty="0">
                        <a:solidFill>
                          <a:schemeClr val="tx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08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8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Проектирование базы данных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MySQL</a:t>
                      </a:r>
                      <a:endParaRPr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08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8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Реализация базы данных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MySQL + XAMPP</a:t>
                      </a:r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08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8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Проектирование интерфейса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Android Studio </a:t>
                      </a:r>
                      <a:endParaRPr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08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8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Реализация (среда разработки)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Android Studio </a:t>
                      </a:r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508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8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Реализация (инструменты, языки)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b="1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Flutter + Dart</a:t>
                      </a:r>
                      <a:endParaRPr lang="en-US" sz="1400" dirty="0"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50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ru-RU" sz="18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Разработка (фреймворки)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http, </a:t>
                      </a:r>
                      <a:r>
                        <a:rPr lang="en-US" dirty="0" err="1"/>
                        <a:t>url_launcher</a:t>
                      </a:r>
                      <a:r>
                        <a:rPr lang="en-US" dirty="0"/>
                        <a:t>, </a:t>
                      </a:r>
                      <a:r>
                        <a:rPr lang="en-US" dirty="0" err="1"/>
                        <a:t>flutter_pdfview</a:t>
                      </a:r>
                      <a:endParaRPr lang="en-US" dirty="0"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8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Тестирование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800" u="none" strike="noStrike" cap="none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Ручное тестирование</a:t>
                      </a: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31" name="Google Shape;131;p4" descr="Visual Studio Code Logo Vector SVG Icon - SVG Repo"/>
          <p:cNvSpPr/>
          <p:nvPr/>
        </p:nvSpPr>
        <p:spPr>
          <a:xfrm>
            <a:off x="5943600" y="327660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4"/>
          <p:cNvSpPr txBox="1"/>
          <p:nvPr/>
        </p:nvSpPr>
        <p:spPr>
          <a:xfrm>
            <a:off x="11646716" y="6421554"/>
            <a:ext cx="545284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b="1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B7C6B7D-56B9-2D73-35F4-1831612E38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5832" y="1368320"/>
            <a:ext cx="665135" cy="562807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B3CE3E8-FD83-05FB-6A73-1C43F6F1CE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11516" y="2090110"/>
            <a:ext cx="665135" cy="562807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80607A31-27F0-6458-44ED-483DE07BEE2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00533" y="2758885"/>
            <a:ext cx="665135" cy="586884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C750C353-7A3C-EF3D-D2CA-D165BE46B28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11516" y="3403328"/>
            <a:ext cx="665135" cy="572799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3050AEE9-B4D7-397F-A40B-8ED1634FB1F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11516" y="4082597"/>
            <a:ext cx="665135" cy="572799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6D407AB3-38F5-28D9-24A1-251A85EA2EB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00533" y="4741611"/>
            <a:ext cx="652858" cy="562807"/>
          </a:xfrm>
          <a:prstGeom prst="rect">
            <a:avLst/>
          </a:prstGeom>
        </p:spPr>
      </p:pic>
      <p:sp>
        <p:nvSpPr>
          <p:cNvPr id="14" name="Shape 0">
            <a:extLst>
              <a:ext uri="{FF2B5EF4-FFF2-40B4-BE49-F238E27FC236}">
                <a16:creationId xmlns:a16="http://schemas.microsoft.com/office/drawing/2014/main" id="{72BF1272-62BC-F33E-B82B-4DA3ED1E2AE2}"/>
              </a:ext>
            </a:extLst>
          </p:cNvPr>
          <p:cNvSpPr/>
          <p:nvPr/>
        </p:nvSpPr>
        <p:spPr>
          <a:xfrm>
            <a:off x="-51028" y="16968"/>
            <a:ext cx="12243028" cy="100584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15" name="Text 1">
            <a:extLst>
              <a:ext uri="{FF2B5EF4-FFF2-40B4-BE49-F238E27FC236}">
                <a16:creationId xmlns:a16="http://schemas.microsoft.com/office/drawing/2014/main" id="{6B4ACE61-16FF-3DD9-2057-7E079203EA28}"/>
              </a:ext>
            </a:extLst>
          </p:cNvPr>
          <p:cNvSpPr/>
          <p:nvPr/>
        </p:nvSpPr>
        <p:spPr>
          <a:xfrm>
            <a:off x="505326" y="108408"/>
            <a:ext cx="1125979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Инструментальные средства разработки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5"/>
          <p:cNvSpPr txBox="1">
            <a:spLocks noGrp="1"/>
          </p:cNvSpPr>
          <p:nvPr>
            <p:ph type="title"/>
          </p:nvPr>
        </p:nvSpPr>
        <p:spPr>
          <a:xfrm>
            <a:off x="821509" y="131264"/>
            <a:ext cx="10688128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Arial"/>
              <a:buNone/>
            </a:pPr>
            <a:endParaRPr dirty="0"/>
          </a:p>
        </p:txBody>
      </p:sp>
      <p:sp>
        <p:nvSpPr>
          <p:cNvPr id="139" name="Google Shape;139;p5"/>
          <p:cNvSpPr txBox="1"/>
          <p:nvPr/>
        </p:nvSpPr>
        <p:spPr>
          <a:xfrm>
            <a:off x="11500635" y="6326626"/>
            <a:ext cx="545284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b="1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141" name="Google Shape;141;p5"/>
          <p:cNvSpPr/>
          <p:nvPr/>
        </p:nvSpPr>
        <p:spPr>
          <a:xfrm>
            <a:off x="1428378" y="1127914"/>
            <a:ext cx="423936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Диаграмма вариантов использования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5"/>
          <p:cNvSpPr/>
          <p:nvPr/>
        </p:nvSpPr>
        <p:spPr>
          <a:xfrm>
            <a:off x="7361575" y="1131363"/>
            <a:ext cx="292195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Диаграмма деятельности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Shape 0">
            <a:extLst>
              <a:ext uri="{FF2B5EF4-FFF2-40B4-BE49-F238E27FC236}">
                <a16:creationId xmlns:a16="http://schemas.microsoft.com/office/drawing/2014/main" id="{4E4CC2F9-BE4A-E715-C999-42D688C43D4D}"/>
              </a:ext>
            </a:extLst>
          </p:cNvPr>
          <p:cNvSpPr/>
          <p:nvPr/>
        </p:nvSpPr>
        <p:spPr>
          <a:xfrm>
            <a:off x="-1" y="0"/>
            <a:ext cx="12268797" cy="100584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5B536F53-F838-76D2-7E7F-4BF18C0BAF35}"/>
              </a:ext>
            </a:extLst>
          </p:cNvPr>
          <p:cNvSpPr/>
          <p:nvPr/>
        </p:nvSpPr>
        <p:spPr>
          <a:xfrm>
            <a:off x="274319" y="91440"/>
            <a:ext cx="11532669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Проектирование программного продукта</a:t>
            </a:r>
            <a:endParaRPr lang="en-US" sz="2400" dirty="0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0354863A-D5C8-4242-A9A6-12F86DB0CAF9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1572126" y="2229853"/>
            <a:ext cx="3850106" cy="3161294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1575FC96-243F-4289-A27C-262AF1875068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7559174" y="2282160"/>
            <a:ext cx="3060700" cy="303657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6"/>
          <p:cNvSpPr txBox="1"/>
          <p:nvPr/>
        </p:nvSpPr>
        <p:spPr>
          <a:xfrm>
            <a:off x="8099079" y="1320125"/>
            <a:ext cx="16092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ER-модель</a:t>
            </a:r>
            <a:endParaRPr/>
          </a:p>
        </p:txBody>
      </p:sp>
      <p:sp>
        <p:nvSpPr>
          <p:cNvPr id="153" name="Google Shape;153;p6"/>
          <p:cNvSpPr txBox="1"/>
          <p:nvPr/>
        </p:nvSpPr>
        <p:spPr>
          <a:xfrm>
            <a:off x="11541379" y="6288656"/>
            <a:ext cx="545284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b="1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156" name="Google Shape;156;p6"/>
          <p:cNvSpPr txBox="1"/>
          <p:nvPr/>
        </p:nvSpPr>
        <p:spPr>
          <a:xfrm>
            <a:off x="1495981" y="1320119"/>
            <a:ext cx="3211776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Инфологическая модель</a:t>
            </a:r>
            <a:endParaRPr/>
          </a:p>
        </p:txBody>
      </p:sp>
      <p:sp>
        <p:nvSpPr>
          <p:cNvPr id="5" name="Shape 0">
            <a:extLst>
              <a:ext uri="{FF2B5EF4-FFF2-40B4-BE49-F238E27FC236}">
                <a16:creationId xmlns:a16="http://schemas.microsoft.com/office/drawing/2014/main" id="{3755995A-F16E-BE5B-0D00-D507E8E8343A}"/>
              </a:ext>
            </a:extLst>
          </p:cNvPr>
          <p:cNvSpPr/>
          <p:nvPr/>
        </p:nvSpPr>
        <p:spPr>
          <a:xfrm>
            <a:off x="0" y="320"/>
            <a:ext cx="12312916" cy="100584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65475AD5-C0AF-57B4-C1FC-2DA744AEC1A4}"/>
              </a:ext>
            </a:extLst>
          </p:cNvPr>
          <p:cNvSpPr/>
          <p:nvPr/>
        </p:nvSpPr>
        <p:spPr>
          <a:xfrm>
            <a:off x="153404" y="143886"/>
            <a:ext cx="8595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Проектирование базы данных</a:t>
            </a:r>
            <a:endParaRPr lang="en-US" sz="2600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A705B678-F25E-45D7-9ED9-E37661852C4C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1524529" y="2660002"/>
            <a:ext cx="3154680" cy="2477770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FC6A1C06-B66F-4F5E-BA06-E7621444E39F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6956769" y="2660002"/>
            <a:ext cx="3893820" cy="255333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7"/>
          <p:cNvSpPr txBox="1"/>
          <p:nvPr/>
        </p:nvSpPr>
        <p:spPr>
          <a:xfrm>
            <a:off x="11500635" y="6326626"/>
            <a:ext cx="545284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b="1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sz="2000" b="1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7"/>
          <p:cNvSpPr txBox="1"/>
          <p:nvPr/>
        </p:nvSpPr>
        <p:spPr>
          <a:xfrm>
            <a:off x="1401383" y="1034288"/>
            <a:ext cx="2871748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Таблица </a:t>
            </a:r>
            <a:r>
              <a:rPr lang="en-US" dirty="0"/>
              <a:t>Client</a:t>
            </a:r>
            <a:endParaRPr dirty="0"/>
          </a:p>
        </p:txBody>
      </p:sp>
      <p:sp>
        <p:nvSpPr>
          <p:cNvPr id="169" name="Google Shape;169;p7"/>
          <p:cNvSpPr txBox="1"/>
          <p:nvPr/>
        </p:nvSpPr>
        <p:spPr>
          <a:xfrm>
            <a:off x="7369666" y="1118718"/>
            <a:ext cx="2871748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Таблица </a:t>
            </a:r>
            <a:r>
              <a:rPr lang="en-US" dirty="0"/>
              <a:t>rooms</a:t>
            </a:r>
            <a:endParaRPr dirty="0"/>
          </a:p>
        </p:txBody>
      </p:sp>
      <p:sp>
        <p:nvSpPr>
          <p:cNvPr id="171" name="Google Shape;171;p7"/>
          <p:cNvSpPr txBox="1"/>
          <p:nvPr/>
        </p:nvSpPr>
        <p:spPr>
          <a:xfrm>
            <a:off x="4660126" y="4193597"/>
            <a:ext cx="2871748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Таблица </a:t>
            </a:r>
            <a:r>
              <a:rPr lang="en-US" sz="1800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Bookings</a:t>
            </a:r>
            <a:endParaRPr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EF067A27-61B2-E1B2-480C-B69F502B39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4975" y="4562888"/>
            <a:ext cx="4799169" cy="1763738"/>
          </a:xfrm>
          <a:prstGeom prst="rect">
            <a:avLst/>
          </a:prstGeom>
        </p:spPr>
      </p:pic>
      <p:sp>
        <p:nvSpPr>
          <p:cNvPr id="12" name="Shape 0">
            <a:extLst>
              <a:ext uri="{FF2B5EF4-FFF2-40B4-BE49-F238E27FC236}">
                <a16:creationId xmlns:a16="http://schemas.microsoft.com/office/drawing/2014/main" id="{252163D7-F133-F550-8A81-7331B3D9CE5F}"/>
              </a:ext>
            </a:extLst>
          </p:cNvPr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13" name="Text 1">
            <a:extLst>
              <a:ext uri="{FF2B5EF4-FFF2-40B4-BE49-F238E27FC236}">
                <a16:creationId xmlns:a16="http://schemas.microsoft.com/office/drawing/2014/main" id="{5E02AB70-57CF-3DD0-78F2-C5B34C1AA27F}"/>
              </a:ext>
            </a:extLst>
          </p:cNvPr>
          <p:cNvSpPr/>
          <p:nvPr/>
        </p:nvSpPr>
        <p:spPr>
          <a:xfrm>
            <a:off x="274320" y="91440"/>
            <a:ext cx="1146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u-RU" sz="2800" b="1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Описание таблиц ER- модели</a:t>
            </a:r>
            <a:endParaRPr lang="en-US" sz="2600" dirty="0">
              <a:solidFill>
                <a:schemeClr val="bg1"/>
              </a:solidFill>
            </a:endParaRPr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738FA6C9-9455-4A4B-B541-698A13CFED5F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245745" y="1530439"/>
            <a:ext cx="5850255" cy="1854200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5DC686DD-D9FD-4E79-82FB-797056A06535}"/>
              </a:ext>
            </a:extLst>
          </p:cNvPr>
          <p:cNvPicPr/>
          <p:nvPr/>
        </p:nvPicPr>
        <p:blipFill>
          <a:blip r:embed="rId5"/>
          <a:stretch>
            <a:fillRect/>
          </a:stretch>
        </p:blipFill>
        <p:spPr>
          <a:xfrm>
            <a:off x="6285703" y="1681374"/>
            <a:ext cx="5850255" cy="110807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8"/>
          <p:cNvSpPr txBox="1"/>
          <p:nvPr/>
        </p:nvSpPr>
        <p:spPr>
          <a:xfrm>
            <a:off x="11500635" y="6326626"/>
            <a:ext cx="545284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b="1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183" name="Google Shape;183;p8"/>
          <p:cNvSpPr txBox="1"/>
          <p:nvPr/>
        </p:nvSpPr>
        <p:spPr>
          <a:xfrm>
            <a:off x="545212" y="1207576"/>
            <a:ext cx="4465906" cy="52443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ru-RU" sz="20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Тип: ручное функциональное и интеграционное тестирование</a:t>
            </a:r>
            <a:br>
              <a:rPr lang="en-US" sz="20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ru-RU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Заголовок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r>
              <a:rPr lang="ru-RU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Занесение в клиентскую базу</a:t>
            </a:r>
            <a:endParaRPr lang="en-US" sz="2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ru-RU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Тестовые данные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r>
              <a:rPr lang="ru-RU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ФИО: Марк Про </a:t>
            </a:r>
            <a:r>
              <a:rPr lang="ru-RU" sz="2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Барабо</a:t>
            </a:r>
            <a:r>
              <a:rPr lang="ru-RU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Номер: 78921267474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Email</a:t>
            </a:r>
            <a:r>
              <a:rPr lang="ru-RU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 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msuckin15@gmail.com</a:t>
            </a:r>
            <a:b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ru-RU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Ожидаемый результат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 </a:t>
            </a:r>
            <a:r>
              <a:rPr lang="ru-RU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Появление клиента в меню и занесение в базу данных </a:t>
            </a: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ru-RU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Статус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r>
              <a:rPr lang="ru-RU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Зачёт</a:t>
            </a:r>
            <a:endParaRPr lang="ru-RU" sz="2000" b="1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Shape 0">
            <a:extLst>
              <a:ext uri="{FF2B5EF4-FFF2-40B4-BE49-F238E27FC236}">
                <a16:creationId xmlns:a16="http://schemas.microsoft.com/office/drawing/2014/main" id="{752ED640-C5F6-704F-ECDC-A46570F98E55}"/>
              </a:ext>
            </a:extLst>
          </p:cNvPr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9" name="Text 1">
            <a:extLst>
              <a:ext uri="{FF2B5EF4-FFF2-40B4-BE49-F238E27FC236}">
                <a16:creationId xmlns:a16="http://schemas.microsoft.com/office/drawing/2014/main" id="{285705BF-A8A0-3118-6548-42EFEBA515C9}"/>
              </a:ext>
            </a:extLst>
          </p:cNvPr>
          <p:cNvSpPr/>
          <p:nvPr/>
        </p:nvSpPr>
        <p:spPr>
          <a:xfrm>
            <a:off x="274320" y="91440"/>
            <a:ext cx="1146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Тестирование программного продукта</a:t>
            </a:r>
            <a:endParaRPr lang="en-US" sz="2400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FE46B49E-6E7A-4ABC-93F0-3A68A92DC4FA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5884545" y="1097280"/>
            <a:ext cx="5850255" cy="513790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9"/>
          <p:cNvSpPr txBox="1">
            <a:spLocks noGrp="1"/>
          </p:cNvSpPr>
          <p:nvPr>
            <p:ph type="title"/>
          </p:nvPr>
        </p:nvSpPr>
        <p:spPr>
          <a:xfrm>
            <a:off x="529197" y="2766218"/>
            <a:ext cx="11133605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Arial"/>
              <a:buNone/>
            </a:pPr>
            <a:r>
              <a:rPr lang="ru-RU" b="1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Демонстрация программного продукта</a:t>
            </a:r>
            <a:endParaRPr/>
          </a:p>
        </p:txBody>
      </p:sp>
      <p:sp>
        <p:nvSpPr>
          <p:cNvPr id="190" name="Google Shape;190;p9"/>
          <p:cNvSpPr txBox="1"/>
          <p:nvPr/>
        </p:nvSpPr>
        <p:spPr>
          <a:xfrm>
            <a:off x="11541379" y="6288656"/>
            <a:ext cx="545284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b="1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74000"/>
          </a:schemeClr>
        </a:solidFill>
        <a:effectLst/>
      </p:bgPr>
    </p:bg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0"/>
          <p:cNvSpPr txBox="1"/>
          <p:nvPr/>
        </p:nvSpPr>
        <p:spPr>
          <a:xfrm>
            <a:off x="11567585" y="6378763"/>
            <a:ext cx="545284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b="1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/>
          </a:p>
        </p:txBody>
      </p:sp>
      <p:sp>
        <p:nvSpPr>
          <p:cNvPr id="198" name="Google Shape;198;p10"/>
          <p:cNvSpPr/>
          <p:nvPr/>
        </p:nvSpPr>
        <p:spPr>
          <a:xfrm>
            <a:off x="1030224" y="1742240"/>
            <a:ext cx="10131552" cy="34162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indent="450215" algn="just">
              <a:lnSpc>
                <a:spcPct val="150000"/>
              </a:lnSpc>
            </a:pP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 ходе выполнения выпускной квалификационной работы была поставлена цель разработать настольное приложение «</a:t>
            </a:r>
            <a:r>
              <a:rPr lang="ru-RU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Hostilio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» для автоматизации управления гостиничным комплексом. Для достижения поставленной цели были выполнены следующие задачи: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–"/>
            </a:pP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Проведено исследование предметной области гостиничного менеджмента и анализ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–"/>
            </a:pP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существующих аналогов.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–"/>
            </a:pP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Проведен анализ инструментальных средств разработки настольных и мобильных приложений.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–"/>
            </a:pP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Спроектирована и разработана архитектура клиент-серверного приложения на базе трёхзвенной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–"/>
            </a:pP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модели.</a:t>
            </a:r>
          </a:p>
        </p:txBody>
      </p:sp>
      <p:sp>
        <p:nvSpPr>
          <p:cNvPr id="7" name="Text 8">
            <a:extLst>
              <a:ext uri="{FF2B5EF4-FFF2-40B4-BE49-F238E27FC236}">
                <a16:creationId xmlns:a16="http://schemas.microsoft.com/office/drawing/2014/main" id="{4C51389B-A9FA-02EB-3836-9240EA1F30CF}"/>
              </a:ext>
            </a:extLst>
          </p:cNvPr>
          <p:cNvSpPr/>
          <p:nvPr/>
        </p:nvSpPr>
        <p:spPr>
          <a:xfrm>
            <a:off x="1371600" y="5158519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Спасибо за внимание!</a:t>
            </a:r>
            <a:endParaRPr lang="en-US" sz="1700" dirty="0">
              <a:solidFill>
                <a:schemeClr val="tx1"/>
              </a:solidFill>
            </a:endParaRPr>
          </a:p>
        </p:txBody>
      </p:sp>
      <p:pic>
        <p:nvPicPr>
          <p:cNvPr id="13" name="Image 0" descr="preencoded.png">
            <a:extLst>
              <a:ext uri="{FF2B5EF4-FFF2-40B4-BE49-F238E27FC236}">
                <a16:creationId xmlns:a16="http://schemas.microsoft.com/office/drawing/2014/main" id="{652B2E36-99F1-DBF7-7894-F92C6396AD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917" y="3612637"/>
            <a:ext cx="390305" cy="390305"/>
          </a:xfrm>
          <a:prstGeom prst="rect">
            <a:avLst/>
          </a:prstGeom>
        </p:spPr>
      </p:pic>
      <p:sp>
        <p:nvSpPr>
          <p:cNvPr id="15" name="Shape 0">
            <a:extLst>
              <a:ext uri="{FF2B5EF4-FFF2-40B4-BE49-F238E27FC236}">
                <a16:creationId xmlns:a16="http://schemas.microsoft.com/office/drawing/2014/main" id="{5ADBC117-5EF1-F723-6DBF-4B4D16FD7953}"/>
              </a:ext>
            </a:extLst>
          </p:cNvPr>
          <p:cNvSpPr/>
          <p:nvPr/>
        </p:nvSpPr>
        <p:spPr>
          <a:xfrm>
            <a:off x="-1" y="0"/>
            <a:ext cx="12112869" cy="100584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ru-RU" dirty="0"/>
          </a:p>
        </p:txBody>
      </p:sp>
      <p:sp>
        <p:nvSpPr>
          <p:cNvPr id="16" name="Text 1">
            <a:extLst>
              <a:ext uri="{FF2B5EF4-FFF2-40B4-BE49-F238E27FC236}">
                <a16:creationId xmlns:a16="http://schemas.microsoft.com/office/drawing/2014/main" id="{B101A9A0-5C5D-09BC-DA78-6C66DC9A8CC3}"/>
              </a:ext>
            </a:extLst>
          </p:cNvPr>
          <p:cNvSpPr/>
          <p:nvPr/>
        </p:nvSpPr>
        <p:spPr>
          <a:xfrm>
            <a:off x="274319" y="91440"/>
            <a:ext cx="11386097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u-RU" sz="2400" dirty="0">
                <a:solidFill>
                  <a:schemeClr val="bg1"/>
                </a:solidFill>
              </a:rPr>
              <a:t>Вывод</a:t>
            </a:r>
            <a:endParaRPr lang="en-US" sz="24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417</Words>
  <Application>Microsoft Office PowerPoint</Application>
  <PresentationFormat>Широкоэкранный</PresentationFormat>
  <Paragraphs>89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4" baseType="lpstr">
      <vt:lpstr>Arial</vt:lpstr>
      <vt:lpstr>Calibri</vt:lpstr>
      <vt:lpstr>Times New Roman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Демонстрация программного продукта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_Moore.Skrim_</dc:creator>
  <cp:lastModifiedBy>111</cp:lastModifiedBy>
  <cp:revision>4</cp:revision>
  <dcterms:created xsi:type="dcterms:W3CDTF">2023-05-28T07:05:17Z</dcterms:created>
  <dcterms:modified xsi:type="dcterms:W3CDTF">2026-06-25T02:35:41Z</dcterms:modified>
</cp:coreProperties>
</file>